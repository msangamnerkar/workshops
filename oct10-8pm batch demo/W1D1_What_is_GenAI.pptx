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7" d="100"/>
          <a:sy n="67" d="100"/>
        </p:scale>
        <p:origin x="256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858988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9.gi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gi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3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Relationship Id="rId9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4930" y="-2103120"/>
            <a:ext cx="5486400" cy="5486400"/>
          </a:xfrm>
          <a:prstGeom prst="ellipse">
            <a:avLst/>
          </a:prstGeom>
          <a:solidFill>
            <a:srgbClr val="EAEBF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10241280" y="4023360"/>
            <a:ext cx="3291840" cy="3291840"/>
          </a:xfrm>
          <a:prstGeom prst="ellipse">
            <a:avLst/>
          </a:prstGeom>
          <a:solidFill>
            <a:srgbClr val="FCEAE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822960" y="18745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300" dirty="0">
                <a:solidFill>
                  <a:srgbClr val="ED37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  ·  DAY 1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2286000"/>
            <a:ext cx="9601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0809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a </a:t>
            </a:r>
            <a:r>
              <a:rPr lang="en-US" sz="4800" b="1" dirty="0">
                <a:solidFill>
                  <a:srgbClr val="ED37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 AI</a:t>
            </a:r>
            <a:r>
              <a:rPr lang="en-US" sz="4800" b="1" dirty="0">
                <a:solidFill>
                  <a:srgbClr val="0809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Application?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841248" y="3611880"/>
            <a:ext cx="8961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dirty="0">
                <a:solidFill>
                  <a:srgbClr val="2A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the thing we're about to test — in plain English.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841248" y="52120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1E2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Thought  ·  Gen AI Testing for Manual Testers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22960" y="960120"/>
            <a:ext cx="777240" cy="777240"/>
          </a:xfrm>
          <a:prstGeom prst="ellipse">
            <a:avLst/>
          </a:prstGeom>
          <a:solidFill>
            <a:srgbClr val="1E2270"/>
          </a:solidFill>
          <a:ln/>
          <a:effectLst>
            <a:outerShdw blurRad="114300" dist="38100" dir="5400000" algn="bl" rotWithShape="0">
              <a:srgbClr val="AEC4DD">
                <a:alpha val="50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1774" y="1068934"/>
            <a:ext cx="559613" cy="559613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640080" y="6455664"/>
            <a:ext cx="128016" cy="128016"/>
          </a:xfrm>
          <a:prstGeom prst="ellipse">
            <a:avLst/>
          </a:prstGeom>
          <a:solidFill>
            <a:srgbClr val="1E227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Shape 8"/>
          <p:cNvSpPr/>
          <p:nvPr/>
        </p:nvSpPr>
        <p:spPr>
          <a:xfrm>
            <a:off x="768096" y="6455664"/>
            <a:ext cx="128016" cy="128016"/>
          </a:xfrm>
          <a:prstGeom prst="ellipse">
            <a:avLst/>
          </a:prstGeom>
          <a:solidFill>
            <a:srgbClr val="ED370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9"/>
          <p:cNvSpPr/>
          <p:nvPr/>
        </p:nvSpPr>
        <p:spPr>
          <a:xfrm>
            <a:off x="960120" y="64008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A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Thought   ·   Gen AI Testing   ·   Week 1 · Day 1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11338560" y="640080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A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50" dirty="0"/>
          </a:p>
        </p:txBody>
      </p:sp>
      <p:pic>
        <p:nvPicPr>
          <p:cNvPr id="14" name="Image 0" descr="preencoded.png">
            <a:extLst>
              <a:ext uri="{FF2B5EF4-FFF2-40B4-BE49-F238E27FC236}">
                <a16:creationId xmlns:a16="http://schemas.microsoft.com/office/drawing/2014/main" id="{20048B8F-D81F-4CC6-9B8B-2A36D7B318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53550" y="0"/>
            <a:ext cx="2615565" cy="73152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D37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TODAY'S SESSION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86384"/>
            <a:ext cx="11155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809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we'll cover today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440680" cy="1783080"/>
          </a:xfrm>
          <a:prstGeom prst="roundRect">
            <a:avLst>
              <a:gd name="adj" fmla="val 5641"/>
            </a:avLst>
          </a:prstGeom>
          <a:solidFill>
            <a:srgbClr val="EAEBF5"/>
          </a:solidFill>
          <a:ln/>
          <a:effectLst>
            <a:outerShdw blurRad="114300" dist="38100" dir="5400000" algn="bl" rotWithShape="0">
              <a:srgbClr val="AEC4DD">
                <a:alpha val="5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932688" y="2139696"/>
            <a:ext cx="658368" cy="658368"/>
          </a:xfrm>
          <a:prstGeom prst="ellipse">
            <a:avLst/>
          </a:prstGeom>
          <a:solidFill>
            <a:srgbClr val="1E2270"/>
          </a:solidFill>
          <a:ln/>
          <a:effectLst>
            <a:outerShdw blurRad="114300" dist="38100" dir="5400000" algn="bl" rotWithShape="0">
              <a:srgbClr val="AEC4DD">
                <a:alpha val="50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860" y="2231868"/>
            <a:ext cx="474025" cy="47402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10512" y="2103120"/>
            <a:ext cx="4023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80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Gen AI really is
</a:t>
            </a:r>
            <a:r>
              <a:rPr lang="en-US" sz="1500" dirty="0">
                <a:solidFill>
                  <a:srgbClr val="6A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plain-English idea behind the hype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6309360" y="1828800"/>
            <a:ext cx="5440680" cy="1783080"/>
          </a:xfrm>
          <a:prstGeom prst="roundRect">
            <a:avLst>
              <a:gd name="adj" fmla="val 5641"/>
            </a:avLst>
          </a:prstGeom>
          <a:solidFill>
            <a:srgbClr val="FCEAE2"/>
          </a:solidFill>
          <a:ln/>
          <a:effectLst>
            <a:outerShdw blurRad="114300" dist="38100" dir="5400000" algn="bl" rotWithShape="0">
              <a:srgbClr val="AEC4DD">
                <a:alpha val="5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" name="Shape 6"/>
          <p:cNvSpPr/>
          <p:nvPr/>
        </p:nvSpPr>
        <p:spPr>
          <a:xfrm>
            <a:off x="6601968" y="2139696"/>
            <a:ext cx="658368" cy="658368"/>
          </a:xfrm>
          <a:prstGeom prst="ellipse">
            <a:avLst/>
          </a:prstGeom>
          <a:solidFill>
            <a:srgbClr val="ED3705"/>
          </a:solidFill>
          <a:ln/>
          <a:effectLst>
            <a:outerShdw blurRad="114300" dist="38100" dir="5400000" algn="bl" rotWithShape="0">
              <a:srgbClr val="AEC4DD">
                <a:alpha val="50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4140" y="2231868"/>
            <a:ext cx="474025" cy="474025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479792" y="2103120"/>
            <a:ext cx="4023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80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an LLM 'thinks'
</a:t>
            </a:r>
            <a:r>
              <a:rPr lang="en-US" sz="1500" dirty="0">
                <a:solidFill>
                  <a:srgbClr val="6A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guesses words, not looks them up</a:t>
            </a:r>
            <a:endParaRPr lang="en-US" sz="1800" dirty="0"/>
          </a:p>
        </p:txBody>
      </p:sp>
      <p:sp>
        <p:nvSpPr>
          <p:cNvPr id="12" name="Shape 8"/>
          <p:cNvSpPr/>
          <p:nvPr/>
        </p:nvSpPr>
        <p:spPr>
          <a:xfrm>
            <a:off x="640080" y="3840480"/>
            <a:ext cx="5440680" cy="1783080"/>
          </a:xfrm>
          <a:prstGeom prst="roundRect">
            <a:avLst>
              <a:gd name="adj" fmla="val 5641"/>
            </a:avLst>
          </a:prstGeom>
          <a:solidFill>
            <a:srgbClr val="EAEBF5"/>
          </a:solidFill>
          <a:ln/>
          <a:effectLst>
            <a:outerShdw blurRad="114300" dist="38100" dir="5400000" algn="bl" rotWithShape="0">
              <a:srgbClr val="AEC4DD">
                <a:alpha val="5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3" name="Shape 9"/>
          <p:cNvSpPr/>
          <p:nvPr/>
        </p:nvSpPr>
        <p:spPr>
          <a:xfrm>
            <a:off x="932688" y="4151376"/>
            <a:ext cx="658368" cy="658368"/>
          </a:xfrm>
          <a:prstGeom prst="ellipse">
            <a:avLst/>
          </a:prstGeom>
          <a:solidFill>
            <a:srgbClr val="1E2270"/>
          </a:solidFill>
          <a:ln/>
          <a:effectLst>
            <a:outerShdw blurRad="114300" dist="38100" dir="5400000" algn="bl" rotWithShape="0">
              <a:srgbClr val="AEC4DD">
                <a:alpha val="50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4860" y="4243548"/>
            <a:ext cx="474025" cy="474025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810512" y="4114800"/>
            <a:ext cx="4023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80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Parts of a Gen AI app
</a:t>
            </a:r>
            <a:r>
              <a:rPr lang="en-US" sz="1500" dirty="0">
                <a:solidFill>
                  <a:srgbClr val="6A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pieces you'll point your tests at</a:t>
            </a:r>
            <a:endParaRPr lang="en-US" sz="1800" dirty="0"/>
          </a:p>
        </p:txBody>
      </p:sp>
      <p:sp>
        <p:nvSpPr>
          <p:cNvPr id="16" name="Shape 11"/>
          <p:cNvSpPr/>
          <p:nvPr/>
        </p:nvSpPr>
        <p:spPr>
          <a:xfrm>
            <a:off x="6309360" y="3840480"/>
            <a:ext cx="5440680" cy="1783080"/>
          </a:xfrm>
          <a:prstGeom prst="roundRect">
            <a:avLst>
              <a:gd name="adj" fmla="val 5641"/>
            </a:avLst>
          </a:prstGeom>
          <a:solidFill>
            <a:srgbClr val="FCEAE2"/>
          </a:solidFill>
          <a:ln/>
          <a:effectLst>
            <a:outerShdw blurRad="114300" dist="38100" dir="5400000" algn="bl" rotWithShape="0">
              <a:srgbClr val="AEC4DD">
                <a:alpha val="5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7" name="Shape 12"/>
          <p:cNvSpPr/>
          <p:nvPr/>
        </p:nvSpPr>
        <p:spPr>
          <a:xfrm>
            <a:off x="6601968" y="4151376"/>
            <a:ext cx="658368" cy="658368"/>
          </a:xfrm>
          <a:prstGeom prst="ellipse">
            <a:avLst/>
          </a:prstGeom>
          <a:solidFill>
            <a:srgbClr val="ED3705"/>
          </a:solidFill>
          <a:ln/>
          <a:effectLst>
            <a:outerShdw blurRad="114300" dist="38100" dir="5400000" algn="bl" rotWithShape="0">
              <a:srgbClr val="AEC4DD">
                <a:alpha val="50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94140" y="4243548"/>
            <a:ext cx="474025" cy="474025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7479792" y="4114800"/>
            <a:ext cx="4023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80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you fit in
</a:t>
            </a:r>
            <a:r>
              <a:rPr lang="en-US" sz="1500" dirty="0">
                <a:solidFill>
                  <a:srgbClr val="6A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new and different for a tester</a:t>
            </a:r>
            <a:endParaRPr lang="en-US" sz="1800" dirty="0"/>
          </a:p>
        </p:txBody>
      </p:sp>
      <p:sp>
        <p:nvSpPr>
          <p:cNvPr id="20" name="Shape 14"/>
          <p:cNvSpPr/>
          <p:nvPr/>
        </p:nvSpPr>
        <p:spPr>
          <a:xfrm>
            <a:off x="640080" y="6455664"/>
            <a:ext cx="128016" cy="128016"/>
          </a:xfrm>
          <a:prstGeom prst="ellipse">
            <a:avLst/>
          </a:prstGeom>
          <a:solidFill>
            <a:srgbClr val="1E227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" name="Shape 15"/>
          <p:cNvSpPr/>
          <p:nvPr/>
        </p:nvSpPr>
        <p:spPr>
          <a:xfrm>
            <a:off x="768096" y="6455664"/>
            <a:ext cx="128016" cy="128016"/>
          </a:xfrm>
          <a:prstGeom prst="ellipse">
            <a:avLst/>
          </a:prstGeom>
          <a:solidFill>
            <a:srgbClr val="ED370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2" name="Text 16"/>
          <p:cNvSpPr/>
          <p:nvPr/>
        </p:nvSpPr>
        <p:spPr>
          <a:xfrm>
            <a:off x="960120" y="64008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A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Thought   ·   Gen AI Testing   ·   Week 1 · Day 1</a:t>
            </a:r>
            <a:endParaRPr lang="en-US" sz="950" dirty="0"/>
          </a:p>
        </p:txBody>
      </p:sp>
      <p:sp>
        <p:nvSpPr>
          <p:cNvPr id="23" name="Text 17"/>
          <p:cNvSpPr/>
          <p:nvPr/>
        </p:nvSpPr>
        <p:spPr>
          <a:xfrm>
            <a:off x="11338560" y="640080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A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50" dirty="0"/>
          </a:p>
        </p:txBody>
      </p:sp>
      <p:pic>
        <p:nvPicPr>
          <p:cNvPr id="24" name="Image 0" descr="preencoded.png">
            <a:extLst>
              <a:ext uri="{FF2B5EF4-FFF2-40B4-BE49-F238E27FC236}">
                <a16:creationId xmlns:a16="http://schemas.microsoft.com/office/drawing/2014/main" id="{8D352A86-6842-40ED-A0E1-0E49BC977EA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53550" y="0"/>
            <a:ext cx="2615565" cy="73152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D37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BIG IDEA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86384"/>
            <a:ext cx="11155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809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 AI is a very </a:t>
            </a:r>
            <a:r>
              <a:rPr lang="en-US" sz="3000" b="1" dirty="0">
                <a:solidFill>
                  <a:srgbClr val="ED37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well-read assistant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6766560" cy="4023360"/>
          </a:xfrm>
          <a:prstGeom prst="roundRect">
            <a:avLst>
              <a:gd name="adj" fmla="val 2500"/>
            </a:avLst>
          </a:prstGeom>
          <a:solidFill>
            <a:srgbClr val="EAEBF5"/>
          </a:solidFill>
          <a:ln/>
          <a:effectLst>
            <a:outerShdw blurRad="114300" dist="38100" dir="5400000" algn="bl" rotWithShape="0">
              <a:srgbClr val="AEC4DD">
                <a:alpha val="5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960120" y="2148840"/>
            <a:ext cx="612648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900" dirty="0">
                <a:solidFill>
                  <a:srgbClr val="2A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Picture an intern who has read almost everything on the internet.
</a:t>
            </a:r>
            <a:endParaRPr lang="en-US" sz="19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800" dirty="0">
                <a:solidFill>
                  <a:srgbClr val="2A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a question and they answer instantly — in any style, any language. They can write, summarize, translate and explain.
</a:t>
            </a:r>
            <a:endParaRPr lang="en-US" sz="19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800" b="1" dirty="0">
                <a:solidFill>
                  <a:srgbClr val="ED3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here's the catch: </a:t>
            </a:r>
            <a:r>
              <a:rPr lang="en-US" sz="1800" dirty="0">
                <a:solidFill>
                  <a:srgbClr val="2A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sometimes sound confident even when they're wrong.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7635240" y="1828800"/>
            <a:ext cx="3886200" cy="4023360"/>
          </a:xfrm>
          <a:prstGeom prst="roundRect">
            <a:avLst>
              <a:gd name="adj" fmla="val 2588"/>
            </a:avLst>
          </a:prstGeom>
          <a:solidFill>
            <a:srgbClr val="FCEAE2"/>
          </a:solidFill>
          <a:ln/>
          <a:effectLst>
            <a:outerShdw blurRad="114300" dist="38100" dir="5400000" algn="bl" rotWithShape="0">
              <a:srgbClr val="AEC4DD">
                <a:alpha val="5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7955280" y="2103120"/>
            <a:ext cx="658368" cy="658368"/>
          </a:xfrm>
          <a:prstGeom prst="ellipse">
            <a:avLst/>
          </a:prstGeom>
          <a:solidFill>
            <a:srgbClr val="ED3705"/>
          </a:solidFill>
          <a:ln/>
          <a:effectLst>
            <a:outerShdw blurRad="114300" dist="38100" dir="5400000" algn="bl" rotWithShape="0">
              <a:srgbClr val="AEC4DD">
                <a:alpha val="50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7452" y="2195292"/>
            <a:ext cx="474025" cy="474025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796528" y="2157984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809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one line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7955280" y="2971800"/>
            <a:ext cx="324612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2000" i="1" dirty="0">
                <a:solidFill>
                  <a:srgbClr val="080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“Gen AI creates new content (text, code, images) instead of just storing and fetching it.”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640080" y="6455664"/>
            <a:ext cx="128016" cy="128016"/>
          </a:xfrm>
          <a:prstGeom prst="ellipse">
            <a:avLst/>
          </a:prstGeom>
          <a:solidFill>
            <a:srgbClr val="1E227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Shape 9"/>
          <p:cNvSpPr/>
          <p:nvPr/>
        </p:nvSpPr>
        <p:spPr>
          <a:xfrm>
            <a:off x="768096" y="6455664"/>
            <a:ext cx="128016" cy="128016"/>
          </a:xfrm>
          <a:prstGeom prst="ellipse">
            <a:avLst/>
          </a:prstGeom>
          <a:solidFill>
            <a:srgbClr val="ED370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10"/>
          <p:cNvSpPr/>
          <p:nvPr/>
        </p:nvSpPr>
        <p:spPr>
          <a:xfrm>
            <a:off x="960120" y="64008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A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Thought   ·   Gen AI Testing   ·   Week 1 · Day 1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11338560" y="640080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A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50" dirty="0"/>
          </a:p>
        </p:txBody>
      </p:sp>
      <p:pic>
        <p:nvPicPr>
          <p:cNvPr id="15" name="Image 0" descr="preencoded.png">
            <a:extLst>
              <a:ext uri="{FF2B5EF4-FFF2-40B4-BE49-F238E27FC236}">
                <a16:creationId xmlns:a16="http://schemas.microsoft.com/office/drawing/2014/main" id="{58E924F8-4399-42C2-ADDF-FEB2B294BA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53550" y="0"/>
            <a:ext cx="2615565" cy="73152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D37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86384"/>
            <a:ext cx="11155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809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predicts the next word — like </a:t>
            </a:r>
            <a:r>
              <a:rPr lang="en-US" sz="3000" b="1" dirty="0">
                <a:solidFill>
                  <a:srgbClr val="ED37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autocomplete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029200" cy="3977640"/>
          </a:xfrm>
          <a:prstGeom prst="roundRect">
            <a:avLst>
              <a:gd name="adj" fmla="val 2529"/>
            </a:avLst>
          </a:prstGeom>
          <a:solidFill>
            <a:srgbClr val="EAEBF5"/>
          </a:solidFill>
          <a:ln/>
          <a:effectLst>
            <a:outerShdw blurRad="114300" dist="38100" dir="5400000" algn="bl" rotWithShape="0">
              <a:srgbClr val="AEC4DD">
                <a:alpha val="5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914400" y="2103120"/>
            <a:ext cx="658368" cy="658368"/>
          </a:xfrm>
          <a:prstGeom prst="ellipse">
            <a:avLst/>
          </a:prstGeom>
          <a:solidFill>
            <a:srgbClr val="1E2270"/>
          </a:solidFill>
          <a:ln/>
          <a:effectLst>
            <a:outerShdw blurRad="114300" dist="38100" dir="5400000" algn="bl" rotWithShape="0">
              <a:srgbClr val="AEC4DD">
                <a:alpha val="50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6572" y="2195292"/>
            <a:ext cx="474025" cy="47402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55648" y="210312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809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phone analogy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960120" y="2834640"/>
            <a:ext cx="4480560" cy="2880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spcAft>
                <a:spcPts val="1000"/>
              </a:spcAft>
              <a:buNone/>
            </a:pPr>
            <a:r>
              <a:rPr lang="en-US" sz="1600" dirty="0">
                <a:solidFill>
                  <a:srgbClr val="2A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phone suggests the next word as you type.
</a:t>
            </a:r>
            <a:endParaRPr lang="en-US" sz="1600" dirty="0"/>
          </a:p>
          <a:p>
            <a:pPr marL="0" indent="0">
              <a:lnSpc>
                <a:spcPct val="108000"/>
              </a:lnSpc>
              <a:spcAft>
                <a:spcPts val="1000"/>
              </a:spcAft>
              <a:buNone/>
            </a:pPr>
            <a:r>
              <a:rPr lang="en-US" sz="1600" dirty="0">
                <a:solidFill>
                  <a:srgbClr val="2A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LLM does the same — but far more powerful, building whole answers one word at a time.
</a:t>
            </a:r>
            <a:endParaRPr lang="en-US" sz="1600" dirty="0"/>
          </a:p>
          <a:p>
            <a:pPr marL="0" indent="0">
              <a:lnSpc>
                <a:spcPct val="108000"/>
              </a:lnSpc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ED3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testers: </a:t>
            </a:r>
            <a:r>
              <a:rPr lang="en-US" sz="1600" dirty="0">
                <a:solidFill>
                  <a:srgbClr val="2A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generates a likely answer — it doesn't look one up. So answers can vary or be wrong.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5852160" y="1828800"/>
            <a:ext cx="5669280" cy="3977640"/>
          </a:xfrm>
          <a:prstGeom prst="roundRect">
            <a:avLst>
              <a:gd name="adj" fmla="val 2529"/>
            </a:avLst>
          </a:prstGeom>
          <a:solidFill>
            <a:srgbClr val="FCEAE2"/>
          </a:solidFill>
          <a:ln/>
          <a:effectLst>
            <a:outerShdw blurRad="114300" dist="38100" dir="5400000" algn="bl" rotWithShape="0">
              <a:srgbClr val="AEC4DD">
                <a:alpha val="5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0" name="Text 7"/>
          <p:cNvSpPr/>
          <p:nvPr/>
        </p:nvSpPr>
        <p:spPr>
          <a:xfrm>
            <a:off x="6126480" y="2029968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809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 it build the answer</a:t>
            </a:r>
            <a:endParaRPr lang="en-US" sz="1800" dirty="0"/>
          </a:p>
        </p:txBody>
      </p:sp>
      <p:pic>
        <p:nvPicPr>
          <p:cNvPr id="11" name="Image 1" descr="/home/claude/nextword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80" y="2697480"/>
            <a:ext cx="5120640" cy="216712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126480" y="49834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A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Animated — plays in slideshow mode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640080" y="6455664"/>
            <a:ext cx="128016" cy="128016"/>
          </a:xfrm>
          <a:prstGeom prst="ellipse">
            <a:avLst/>
          </a:prstGeom>
          <a:solidFill>
            <a:srgbClr val="1E227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Shape 10"/>
          <p:cNvSpPr/>
          <p:nvPr/>
        </p:nvSpPr>
        <p:spPr>
          <a:xfrm>
            <a:off x="768096" y="6455664"/>
            <a:ext cx="128016" cy="128016"/>
          </a:xfrm>
          <a:prstGeom prst="ellipse">
            <a:avLst/>
          </a:prstGeom>
          <a:solidFill>
            <a:srgbClr val="ED370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Text 11"/>
          <p:cNvSpPr/>
          <p:nvPr/>
        </p:nvSpPr>
        <p:spPr>
          <a:xfrm>
            <a:off x="960120" y="64008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A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Thought   ·   Gen AI Testing   ·   Week 1 · Day 1</a:t>
            </a:r>
            <a:endParaRPr lang="en-US" sz="950" dirty="0"/>
          </a:p>
        </p:txBody>
      </p:sp>
      <p:sp>
        <p:nvSpPr>
          <p:cNvPr id="16" name="Text 12"/>
          <p:cNvSpPr/>
          <p:nvPr/>
        </p:nvSpPr>
        <p:spPr>
          <a:xfrm>
            <a:off x="11338560" y="640080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A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50" dirty="0"/>
          </a:p>
        </p:txBody>
      </p:sp>
      <p:pic>
        <p:nvPicPr>
          <p:cNvPr id="17" name="Image 0" descr="preencoded.png">
            <a:extLst>
              <a:ext uri="{FF2B5EF4-FFF2-40B4-BE49-F238E27FC236}">
                <a16:creationId xmlns:a16="http://schemas.microsoft.com/office/drawing/2014/main" id="{4CDF00E4-3EEF-4607-8B20-8C41098C70B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53550" y="0"/>
            <a:ext cx="2615565" cy="73152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D37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MOVING PARTS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86384"/>
            <a:ext cx="11155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809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What's inside a Gen AI application</a:t>
            </a:r>
            <a:endParaRPr lang="en-US" sz="3000" dirty="0"/>
          </a:p>
        </p:txBody>
      </p:sp>
      <p:pic>
        <p:nvPicPr>
          <p:cNvPr id="4" name="Image 0" descr="/home/claude/pipeline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148840"/>
            <a:ext cx="10360152" cy="282549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52578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i="1" dirty="0">
                <a:solidFill>
                  <a:srgbClr val="1E2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part is something you can test — and each part can fail in its own way.</a:t>
            </a:r>
            <a:endParaRPr lang="en-US" sz="1700" dirty="0"/>
          </a:p>
        </p:txBody>
      </p:sp>
      <p:sp>
        <p:nvSpPr>
          <p:cNvPr id="6" name="Shape 3"/>
          <p:cNvSpPr/>
          <p:nvPr/>
        </p:nvSpPr>
        <p:spPr>
          <a:xfrm>
            <a:off x="640080" y="6455664"/>
            <a:ext cx="128016" cy="128016"/>
          </a:xfrm>
          <a:prstGeom prst="ellipse">
            <a:avLst/>
          </a:prstGeom>
          <a:solidFill>
            <a:srgbClr val="1E227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Shape 4"/>
          <p:cNvSpPr/>
          <p:nvPr/>
        </p:nvSpPr>
        <p:spPr>
          <a:xfrm>
            <a:off x="768096" y="6455664"/>
            <a:ext cx="128016" cy="128016"/>
          </a:xfrm>
          <a:prstGeom prst="ellipse">
            <a:avLst/>
          </a:prstGeom>
          <a:solidFill>
            <a:srgbClr val="ED370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Text 5"/>
          <p:cNvSpPr/>
          <p:nvPr/>
        </p:nvSpPr>
        <p:spPr>
          <a:xfrm>
            <a:off x="960120" y="64008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A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Thought   ·   Gen AI Testing   ·   Week 1 · Day 1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11338560" y="640080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A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50" dirty="0"/>
          </a:p>
        </p:txBody>
      </p:sp>
      <p:pic>
        <p:nvPicPr>
          <p:cNvPr id="10" name="Image 0" descr="preencoded.png">
            <a:extLst>
              <a:ext uri="{FF2B5EF4-FFF2-40B4-BE49-F238E27FC236}">
                <a16:creationId xmlns:a16="http://schemas.microsoft.com/office/drawing/2014/main" id="{EA4C8345-B221-479B-ABED-7BDD2B5EC8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53550" y="0"/>
            <a:ext cx="2615565" cy="73152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D37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REAL EXAMPLE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86384"/>
            <a:ext cx="11155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809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customer-support chatbot in action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10881360" cy="841248"/>
          </a:xfrm>
          <a:prstGeom prst="roundRect">
            <a:avLst>
              <a:gd name="adj" fmla="val 11957"/>
            </a:avLst>
          </a:prstGeom>
          <a:solidFill>
            <a:srgbClr val="FCEAE2"/>
          </a:solidFill>
          <a:ln/>
          <a:effectLst>
            <a:outerShdw blurRad="114300" dist="38100" dir="5400000" algn="bl" rotWithShape="0">
              <a:srgbClr val="AEC4DD">
                <a:alpha val="5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914400" y="1901952"/>
            <a:ext cx="603504" cy="603504"/>
          </a:xfrm>
          <a:prstGeom prst="ellipse">
            <a:avLst/>
          </a:prstGeom>
          <a:solidFill>
            <a:srgbClr val="ED3705"/>
          </a:solidFill>
          <a:ln/>
          <a:effectLst>
            <a:outerShdw blurRad="114300" dist="38100" dir="5400000" algn="bl" rotWithShape="0">
              <a:srgbClr val="AEC4DD">
                <a:alpha val="50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8891" y="1986443"/>
            <a:ext cx="434523" cy="43452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37360" y="1783080"/>
            <a:ext cx="96012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80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asks:  </a:t>
            </a:r>
            <a:r>
              <a:rPr lang="en-US" sz="1900" i="1" dirty="0">
                <a:solidFill>
                  <a:srgbClr val="2A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“Where is my order #1234?”</a:t>
            </a:r>
            <a:endParaRPr lang="en-US" sz="1900" dirty="0"/>
          </a:p>
        </p:txBody>
      </p:sp>
      <p:sp>
        <p:nvSpPr>
          <p:cNvPr id="8" name="Shape 5"/>
          <p:cNvSpPr/>
          <p:nvPr/>
        </p:nvSpPr>
        <p:spPr>
          <a:xfrm>
            <a:off x="640080" y="2907792"/>
            <a:ext cx="10881360" cy="60350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AEC4DD">
                <a:alpha val="5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" name="Shape 6"/>
          <p:cNvSpPr/>
          <p:nvPr/>
        </p:nvSpPr>
        <p:spPr>
          <a:xfrm>
            <a:off x="868680" y="3044952"/>
            <a:ext cx="329184" cy="329184"/>
          </a:xfrm>
          <a:prstGeom prst="ellipse">
            <a:avLst/>
          </a:prstGeom>
          <a:solidFill>
            <a:srgbClr val="1E227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7"/>
          <p:cNvSpPr/>
          <p:nvPr/>
        </p:nvSpPr>
        <p:spPr>
          <a:xfrm>
            <a:off x="868680" y="304495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417320" y="2907792"/>
            <a:ext cx="99212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80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/ UI  —  </a:t>
            </a:r>
            <a:r>
              <a:rPr lang="en-US" sz="1550" dirty="0">
                <a:solidFill>
                  <a:srgbClr val="2A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takes the typed question</a:t>
            </a:r>
            <a:endParaRPr lang="en-US" sz="1550" dirty="0"/>
          </a:p>
        </p:txBody>
      </p:sp>
      <p:sp>
        <p:nvSpPr>
          <p:cNvPr id="12" name="Shape 9"/>
          <p:cNvSpPr/>
          <p:nvPr/>
        </p:nvSpPr>
        <p:spPr>
          <a:xfrm>
            <a:off x="640080" y="3566160"/>
            <a:ext cx="10881360" cy="603504"/>
          </a:xfrm>
          <a:prstGeom prst="roundRect">
            <a:avLst>
              <a:gd name="adj" fmla="val 16667"/>
            </a:avLst>
          </a:prstGeom>
          <a:solidFill>
            <a:srgbClr val="EAEBF5"/>
          </a:solidFill>
          <a:ln/>
          <a:effectLst>
            <a:outerShdw blurRad="114300" dist="38100" dir="5400000" algn="bl" rotWithShape="0">
              <a:srgbClr val="AEC4DD">
                <a:alpha val="5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3" name="Shape 10"/>
          <p:cNvSpPr/>
          <p:nvPr/>
        </p:nvSpPr>
        <p:spPr>
          <a:xfrm>
            <a:off x="868680" y="3703320"/>
            <a:ext cx="329184" cy="329184"/>
          </a:xfrm>
          <a:prstGeom prst="ellipse">
            <a:avLst/>
          </a:prstGeom>
          <a:solidFill>
            <a:srgbClr val="1E227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Text 11"/>
          <p:cNvSpPr/>
          <p:nvPr/>
        </p:nvSpPr>
        <p:spPr>
          <a:xfrm>
            <a:off x="868680" y="370332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1417320" y="3566160"/>
            <a:ext cx="99212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80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 —  </a:t>
            </a:r>
            <a:r>
              <a:rPr lang="en-US" sz="1550" dirty="0">
                <a:solidFill>
                  <a:srgbClr val="2A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rules: 'be polite, only use our order data'</a:t>
            </a:r>
            <a:endParaRPr lang="en-US" sz="1550" dirty="0"/>
          </a:p>
        </p:txBody>
      </p:sp>
      <p:sp>
        <p:nvSpPr>
          <p:cNvPr id="16" name="Shape 13"/>
          <p:cNvSpPr/>
          <p:nvPr/>
        </p:nvSpPr>
        <p:spPr>
          <a:xfrm>
            <a:off x="640080" y="4224528"/>
            <a:ext cx="10881360" cy="60350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AEC4DD">
                <a:alpha val="5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7" name="Shape 14"/>
          <p:cNvSpPr/>
          <p:nvPr/>
        </p:nvSpPr>
        <p:spPr>
          <a:xfrm>
            <a:off x="868680" y="4361688"/>
            <a:ext cx="329184" cy="329184"/>
          </a:xfrm>
          <a:prstGeom prst="ellipse">
            <a:avLst/>
          </a:prstGeom>
          <a:solidFill>
            <a:srgbClr val="1E227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Text 15"/>
          <p:cNvSpPr/>
          <p:nvPr/>
        </p:nvSpPr>
        <p:spPr>
          <a:xfrm>
            <a:off x="868680" y="436168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1417320" y="4224528"/>
            <a:ext cx="99212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80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 —  </a:t>
            </a:r>
            <a:r>
              <a:rPr lang="en-US" sz="1550" dirty="0">
                <a:solidFill>
                  <a:srgbClr val="2A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 a friendly, helpful reply</a:t>
            </a:r>
            <a:endParaRPr lang="en-US" sz="1550" dirty="0"/>
          </a:p>
        </p:txBody>
      </p:sp>
      <p:sp>
        <p:nvSpPr>
          <p:cNvPr id="20" name="Shape 17"/>
          <p:cNvSpPr/>
          <p:nvPr/>
        </p:nvSpPr>
        <p:spPr>
          <a:xfrm>
            <a:off x="640080" y="4882896"/>
            <a:ext cx="10881360" cy="603504"/>
          </a:xfrm>
          <a:prstGeom prst="roundRect">
            <a:avLst>
              <a:gd name="adj" fmla="val 16667"/>
            </a:avLst>
          </a:prstGeom>
          <a:solidFill>
            <a:srgbClr val="EAEBF5"/>
          </a:solidFill>
          <a:ln/>
          <a:effectLst>
            <a:outerShdw blurRad="114300" dist="38100" dir="5400000" algn="bl" rotWithShape="0">
              <a:srgbClr val="AEC4DD">
                <a:alpha val="5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1" name="Shape 18"/>
          <p:cNvSpPr/>
          <p:nvPr/>
        </p:nvSpPr>
        <p:spPr>
          <a:xfrm>
            <a:off x="868680" y="5020056"/>
            <a:ext cx="329184" cy="329184"/>
          </a:xfrm>
          <a:prstGeom prst="ellipse">
            <a:avLst/>
          </a:prstGeom>
          <a:solidFill>
            <a:srgbClr val="1E227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2" name="Text 19"/>
          <p:cNvSpPr/>
          <p:nvPr/>
        </p:nvSpPr>
        <p:spPr>
          <a:xfrm>
            <a:off x="868680" y="502005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1417320" y="4882896"/>
            <a:ext cx="99212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80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  —  </a:t>
            </a:r>
            <a:r>
              <a:rPr lang="en-US" sz="1550" dirty="0">
                <a:solidFill>
                  <a:srgbClr val="2A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no private data leaks to the wrong user</a:t>
            </a:r>
            <a:endParaRPr lang="en-US" sz="1550" dirty="0"/>
          </a:p>
        </p:txBody>
      </p:sp>
      <p:sp>
        <p:nvSpPr>
          <p:cNvPr id="24" name="Shape 21"/>
          <p:cNvSpPr/>
          <p:nvPr/>
        </p:nvSpPr>
        <p:spPr>
          <a:xfrm>
            <a:off x="640080" y="5541264"/>
            <a:ext cx="10881360" cy="60350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AEC4DD">
                <a:alpha val="5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5" name="Shape 22"/>
          <p:cNvSpPr/>
          <p:nvPr/>
        </p:nvSpPr>
        <p:spPr>
          <a:xfrm>
            <a:off x="868680" y="5678424"/>
            <a:ext cx="329184" cy="329184"/>
          </a:xfrm>
          <a:prstGeom prst="ellipse">
            <a:avLst/>
          </a:prstGeom>
          <a:solidFill>
            <a:srgbClr val="1E227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6" name="Text 23"/>
          <p:cNvSpPr/>
          <p:nvPr/>
        </p:nvSpPr>
        <p:spPr>
          <a:xfrm>
            <a:off x="868680" y="567842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1417320" y="5541264"/>
            <a:ext cx="99212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80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 —  </a:t>
            </a:r>
            <a:r>
              <a:rPr lang="en-US" sz="1550" dirty="0">
                <a:solidFill>
                  <a:srgbClr val="2A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'Your order #1234 ships tomorrow — here's the tracking link.'</a:t>
            </a:r>
            <a:endParaRPr lang="en-US" sz="1550" dirty="0"/>
          </a:p>
        </p:txBody>
      </p:sp>
      <p:sp>
        <p:nvSpPr>
          <p:cNvPr id="28" name="Shape 25"/>
          <p:cNvSpPr/>
          <p:nvPr/>
        </p:nvSpPr>
        <p:spPr>
          <a:xfrm>
            <a:off x="640080" y="6455664"/>
            <a:ext cx="128016" cy="128016"/>
          </a:xfrm>
          <a:prstGeom prst="ellipse">
            <a:avLst/>
          </a:prstGeom>
          <a:solidFill>
            <a:srgbClr val="1E227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9" name="Shape 26"/>
          <p:cNvSpPr/>
          <p:nvPr/>
        </p:nvSpPr>
        <p:spPr>
          <a:xfrm>
            <a:off x="768096" y="6455664"/>
            <a:ext cx="128016" cy="128016"/>
          </a:xfrm>
          <a:prstGeom prst="ellipse">
            <a:avLst/>
          </a:prstGeom>
          <a:solidFill>
            <a:srgbClr val="ED370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0" name="Text 27"/>
          <p:cNvSpPr/>
          <p:nvPr/>
        </p:nvSpPr>
        <p:spPr>
          <a:xfrm>
            <a:off x="960120" y="64008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A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Thought   ·   Gen AI Testing   ·   Week 1 · Day 1</a:t>
            </a:r>
            <a:endParaRPr lang="en-US" sz="950" dirty="0"/>
          </a:p>
        </p:txBody>
      </p:sp>
      <p:sp>
        <p:nvSpPr>
          <p:cNvPr id="31" name="Text 28"/>
          <p:cNvSpPr/>
          <p:nvPr/>
        </p:nvSpPr>
        <p:spPr>
          <a:xfrm>
            <a:off x="11338560" y="640080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A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50" dirty="0"/>
          </a:p>
        </p:txBody>
      </p:sp>
      <p:pic>
        <p:nvPicPr>
          <p:cNvPr id="32" name="Image 0" descr="preencoded.png">
            <a:extLst>
              <a:ext uri="{FF2B5EF4-FFF2-40B4-BE49-F238E27FC236}">
                <a16:creationId xmlns:a16="http://schemas.microsoft.com/office/drawing/2014/main" id="{91047A2D-37F9-4E9C-BB50-434DDFBF03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53550" y="0"/>
            <a:ext cx="2615565" cy="73152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D37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IT'S DIFFERENT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86384"/>
            <a:ext cx="11155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809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 AI is </a:t>
            </a:r>
            <a:r>
              <a:rPr lang="en-US" sz="3000" b="1" dirty="0">
                <a:solidFill>
                  <a:srgbClr val="ED37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like normal software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349240" cy="3931920"/>
          </a:xfrm>
          <a:prstGeom prst="roundRect">
            <a:avLst>
              <a:gd name="adj" fmla="val 2558"/>
            </a:avLst>
          </a:prstGeom>
          <a:solidFill>
            <a:srgbClr val="EAEBF5"/>
          </a:solidFill>
          <a:ln/>
          <a:effectLst>
            <a:outerShdw blurRad="114300" dist="38100" dir="5400000" algn="bl" rotWithShape="0">
              <a:srgbClr val="AEC4DD">
                <a:alpha val="5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914400" y="2084832"/>
            <a:ext cx="603504" cy="603504"/>
          </a:xfrm>
          <a:prstGeom prst="ellipse">
            <a:avLst/>
          </a:prstGeom>
          <a:solidFill>
            <a:srgbClr val="1E2270"/>
          </a:solidFill>
          <a:ln/>
          <a:effectLst>
            <a:outerShdw blurRad="114300" dist="38100" dir="5400000" algn="bl" rotWithShape="0">
              <a:srgbClr val="AEC4DD">
                <a:alpha val="50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8891" y="2169323"/>
            <a:ext cx="434523" cy="43452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2084832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809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Traditional software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960120" y="2971800"/>
            <a:ext cx="47548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650" dirty="0">
                <a:solidFill>
                  <a:srgbClr val="2A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Follows fixed rules: if X, then Y</a:t>
            </a:r>
            <a:endParaRPr lang="en-US" sz="165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650" dirty="0">
                <a:solidFill>
                  <a:srgbClr val="2A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input → same output, every time</a:t>
            </a:r>
            <a:endParaRPr lang="en-US" sz="165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650" dirty="0">
                <a:solidFill>
                  <a:srgbClr val="2A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know the exact expected result</a:t>
            </a:r>
            <a:endParaRPr lang="en-US" sz="165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650" dirty="0">
                <a:solidFill>
                  <a:srgbClr val="2A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with: assertEquals (exact match)</a:t>
            </a:r>
            <a:endParaRPr lang="en-US" sz="1650" dirty="0"/>
          </a:p>
        </p:txBody>
      </p:sp>
      <p:sp>
        <p:nvSpPr>
          <p:cNvPr id="9" name="Shape 6"/>
          <p:cNvSpPr/>
          <p:nvPr/>
        </p:nvSpPr>
        <p:spPr>
          <a:xfrm>
            <a:off x="6172200" y="1828800"/>
            <a:ext cx="5349240" cy="3931920"/>
          </a:xfrm>
          <a:prstGeom prst="roundRect">
            <a:avLst>
              <a:gd name="adj" fmla="val 2558"/>
            </a:avLst>
          </a:prstGeom>
          <a:solidFill>
            <a:srgbClr val="FCEAE2"/>
          </a:solidFill>
          <a:ln/>
          <a:effectLst>
            <a:outerShdw blurRad="114300" dist="38100" dir="5400000" algn="bl" rotWithShape="0">
              <a:srgbClr val="AEC4DD">
                <a:alpha val="5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0" name="Shape 7"/>
          <p:cNvSpPr/>
          <p:nvPr/>
        </p:nvSpPr>
        <p:spPr>
          <a:xfrm>
            <a:off x="6446520" y="2084832"/>
            <a:ext cx="603504" cy="603504"/>
          </a:xfrm>
          <a:prstGeom prst="ellipse">
            <a:avLst/>
          </a:prstGeom>
          <a:solidFill>
            <a:srgbClr val="ED3705"/>
          </a:solidFill>
          <a:ln/>
          <a:effectLst>
            <a:outerShdw blurRad="114300" dist="38100" dir="5400000" algn="bl" rotWithShape="0">
              <a:srgbClr val="AEC4DD">
                <a:alpha val="50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1011" y="2169323"/>
            <a:ext cx="434523" cy="43452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223760" y="2084832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809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 AI software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6492240" y="2971800"/>
            <a:ext cx="47548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650" dirty="0">
                <a:solidFill>
                  <a:srgbClr val="2A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patterns — it generates answers</a:t>
            </a:r>
            <a:endParaRPr lang="en-US" sz="165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650" dirty="0">
                <a:solidFill>
                  <a:srgbClr val="2A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input → answer can change</a:t>
            </a:r>
            <a:endParaRPr lang="en-US" sz="165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650" dirty="0">
                <a:solidFill>
                  <a:srgbClr val="2A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know what 'good' looks like, not exact words</a:t>
            </a:r>
            <a:endParaRPr lang="en-US" sz="165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650" dirty="0">
                <a:solidFill>
                  <a:srgbClr val="2A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with: meaning, facts, safety — not exact match</a:t>
            </a:r>
            <a:endParaRPr lang="en-US" sz="1650" dirty="0"/>
          </a:p>
        </p:txBody>
      </p:sp>
      <p:sp>
        <p:nvSpPr>
          <p:cNvPr id="14" name="Shape 10"/>
          <p:cNvSpPr/>
          <p:nvPr/>
        </p:nvSpPr>
        <p:spPr>
          <a:xfrm>
            <a:off x="640080" y="6455664"/>
            <a:ext cx="128016" cy="128016"/>
          </a:xfrm>
          <a:prstGeom prst="ellipse">
            <a:avLst/>
          </a:prstGeom>
          <a:solidFill>
            <a:srgbClr val="1E227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Shape 11"/>
          <p:cNvSpPr/>
          <p:nvPr/>
        </p:nvSpPr>
        <p:spPr>
          <a:xfrm>
            <a:off x="768096" y="6455664"/>
            <a:ext cx="128016" cy="128016"/>
          </a:xfrm>
          <a:prstGeom prst="ellipse">
            <a:avLst/>
          </a:prstGeom>
          <a:solidFill>
            <a:srgbClr val="ED370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" name="Text 12"/>
          <p:cNvSpPr/>
          <p:nvPr/>
        </p:nvSpPr>
        <p:spPr>
          <a:xfrm>
            <a:off x="960120" y="64008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A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Thought   ·   Gen AI Testing   ·   Week 1 · Day 1</a:t>
            </a:r>
            <a:endParaRPr lang="en-US" sz="950" dirty="0"/>
          </a:p>
        </p:txBody>
      </p:sp>
      <p:sp>
        <p:nvSpPr>
          <p:cNvPr id="17" name="Text 13"/>
          <p:cNvSpPr/>
          <p:nvPr/>
        </p:nvSpPr>
        <p:spPr>
          <a:xfrm>
            <a:off x="11338560" y="640080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A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50" dirty="0"/>
          </a:p>
        </p:txBody>
      </p:sp>
      <p:pic>
        <p:nvPicPr>
          <p:cNvPr id="18" name="Image 0" descr="preencoded.png">
            <a:extLst>
              <a:ext uri="{FF2B5EF4-FFF2-40B4-BE49-F238E27FC236}">
                <a16:creationId xmlns:a16="http://schemas.microsoft.com/office/drawing/2014/main" id="{58F1850D-23CB-409D-AD0F-FAC8E3132A9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53550" y="0"/>
            <a:ext cx="2615565" cy="73152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D37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ROLE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86384"/>
            <a:ext cx="11155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809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do you fit as a tester?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09344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2A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instincts as always — pointed at new kinds of problems. This week we'll learn to catch each of these: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640080" y="2240280"/>
            <a:ext cx="3566160" cy="1737360"/>
          </a:xfrm>
          <a:prstGeom prst="roundRect">
            <a:avLst>
              <a:gd name="adj" fmla="val 5789"/>
            </a:avLst>
          </a:prstGeom>
          <a:solidFill>
            <a:srgbClr val="EAEBF5"/>
          </a:solidFill>
          <a:ln/>
          <a:effectLst>
            <a:outerShdw blurRad="114300" dist="38100" dir="5400000" algn="bl" rotWithShape="0">
              <a:srgbClr val="AEC4DD">
                <a:alpha val="5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896112" y="2514600"/>
            <a:ext cx="585216" cy="585216"/>
          </a:xfrm>
          <a:prstGeom prst="ellipse">
            <a:avLst/>
          </a:prstGeom>
          <a:solidFill>
            <a:srgbClr val="1E2270"/>
          </a:solidFill>
          <a:ln/>
          <a:effectLst>
            <a:outerShdw blurRad="114300" dist="38100" dir="5400000" algn="bl" rotWithShape="0">
              <a:srgbClr val="AEC4DD">
                <a:alpha val="50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042" y="2596530"/>
            <a:ext cx="421356" cy="42135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27632" y="2514600"/>
            <a:ext cx="239572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809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Made-up answers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896112" y="3200400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6A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States false facts confidently ('hallucination')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4297680" y="2240280"/>
            <a:ext cx="3566160" cy="1737360"/>
          </a:xfrm>
          <a:prstGeom prst="roundRect">
            <a:avLst>
              <a:gd name="adj" fmla="val 5789"/>
            </a:avLst>
          </a:prstGeom>
          <a:solidFill>
            <a:srgbClr val="FCEAE2"/>
          </a:solidFill>
          <a:ln/>
          <a:effectLst>
            <a:outerShdw blurRad="114300" dist="38100" dir="5400000" algn="bl" rotWithShape="0">
              <a:srgbClr val="AEC4DD">
                <a:alpha val="5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Shape 8"/>
          <p:cNvSpPr/>
          <p:nvPr/>
        </p:nvSpPr>
        <p:spPr>
          <a:xfrm>
            <a:off x="4553712" y="2514600"/>
            <a:ext cx="585216" cy="585216"/>
          </a:xfrm>
          <a:prstGeom prst="ellipse">
            <a:avLst/>
          </a:prstGeom>
          <a:solidFill>
            <a:srgbClr val="ED3705"/>
          </a:solidFill>
          <a:ln/>
          <a:effectLst>
            <a:outerShdw blurRad="114300" dist="38100" dir="5400000" algn="bl" rotWithShape="0">
              <a:srgbClr val="AEC4DD">
                <a:alpha val="50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35642" y="2596530"/>
            <a:ext cx="421356" cy="42135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285232" y="2514600"/>
            <a:ext cx="239572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809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Different each time</a:t>
            </a:r>
            <a:endParaRPr lang="en-US" sz="1550" dirty="0"/>
          </a:p>
        </p:txBody>
      </p:sp>
      <p:sp>
        <p:nvSpPr>
          <p:cNvPr id="14" name="Text 10"/>
          <p:cNvSpPr/>
          <p:nvPr/>
        </p:nvSpPr>
        <p:spPr>
          <a:xfrm>
            <a:off x="4553712" y="3200400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6A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question can give different replies</a:t>
            </a:r>
            <a:endParaRPr lang="en-US" sz="1350" dirty="0"/>
          </a:p>
        </p:txBody>
      </p:sp>
      <p:sp>
        <p:nvSpPr>
          <p:cNvPr id="15" name="Shape 11"/>
          <p:cNvSpPr/>
          <p:nvPr/>
        </p:nvSpPr>
        <p:spPr>
          <a:xfrm>
            <a:off x="7955280" y="2240280"/>
            <a:ext cx="3566160" cy="1737360"/>
          </a:xfrm>
          <a:prstGeom prst="roundRect">
            <a:avLst>
              <a:gd name="adj" fmla="val 5789"/>
            </a:avLst>
          </a:prstGeom>
          <a:solidFill>
            <a:srgbClr val="EAEBF5"/>
          </a:solidFill>
          <a:ln/>
          <a:effectLst>
            <a:outerShdw blurRad="114300" dist="38100" dir="5400000" algn="bl" rotWithShape="0">
              <a:srgbClr val="AEC4DD">
                <a:alpha val="5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6" name="Shape 12"/>
          <p:cNvSpPr/>
          <p:nvPr/>
        </p:nvSpPr>
        <p:spPr>
          <a:xfrm>
            <a:off x="8211312" y="2514600"/>
            <a:ext cx="585216" cy="585216"/>
          </a:xfrm>
          <a:prstGeom prst="ellipse">
            <a:avLst/>
          </a:prstGeom>
          <a:solidFill>
            <a:srgbClr val="1E2270"/>
          </a:solidFill>
          <a:ln/>
          <a:effectLst>
            <a:outerShdw blurRad="114300" dist="38100" dir="5400000" algn="bl" rotWithShape="0">
              <a:srgbClr val="AEC4DD">
                <a:alpha val="50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93242" y="2596530"/>
            <a:ext cx="421356" cy="42135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942832" y="2514600"/>
            <a:ext cx="239572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809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be tricked</a:t>
            </a:r>
            <a:endParaRPr lang="en-US" sz="1550" dirty="0"/>
          </a:p>
        </p:txBody>
      </p:sp>
      <p:sp>
        <p:nvSpPr>
          <p:cNvPr id="19" name="Text 14"/>
          <p:cNvSpPr/>
          <p:nvPr/>
        </p:nvSpPr>
        <p:spPr>
          <a:xfrm>
            <a:off x="8211312" y="3200400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6A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Clever inputs make it break its own rules</a:t>
            </a:r>
            <a:endParaRPr lang="en-US" sz="1350" dirty="0"/>
          </a:p>
        </p:txBody>
      </p:sp>
      <p:sp>
        <p:nvSpPr>
          <p:cNvPr id="20" name="Shape 15"/>
          <p:cNvSpPr/>
          <p:nvPr/>
        </p:nvSpPr>
        <p:spPr>
          <a:xfrm>
            <a:off x="640080" y="4142232"/>
            <a:ext cx="3566160" cy="1737360"/>
          </a:xfrm>
          <a:prstGeom prst="roundRect">
            <a:avLst>
              <a:gd name="adj" fmla="val 5789"/>
            </a:avLst>
          </a:prstGeom>
          <a:solidFill>
            <a:srgbClr val="FCEAE2"/>
          </a:solidFill>
          <a:ln/>
          <a:effectLst>
            <a:outerShdw blurRad="114300" dist="38100" dir="5400000" algn="bl" rotWithShape="0">
              <a:srgbClr val="AEC4DD">
                <a:alpha val="5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1" name="Shape 16"/>
          <p:cNvSpPr/>
          <p:nvPr/>
        </p:nvSpPr>
        <p:spPr>
          <a:xfrm>
            <a:off x="896112" y="4416552"/>
            <a:ext cx="585216" cy="585216"/>
          </a:xfrm>
          <a:prstGeom prst="ellipse">
            <a:avLst/>
          </a:prstGeom>
          <a:solidFill>
            <a:srgbClr val="ED3705"/>
          </a:solidFill>
          <a:ln/>
          <a:effectLst>
            <a:outerShdw blurRad="114300" dist="38100" dir="5400000" algn="bl" rotWithShape="0">
              <a:srgbClr val="AEC4DD">
                <a:alpha val="50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8042" y="4498482"/>
            <a:ext cx="421356" cy="421356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627632" y="4416552"/>
            <a:ext cx="239572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809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May leak information</a:t>
            </a:r>
            <a:endParaRPr lang="en-US" sz="1550" dirty="0"/>
          </a:p>
        </p:txBody>
      </p:sp>
      <p:sp>
        <p:nvSpPr>
          <p:cNvPr id="24" name="Text 18"/>
          <p:cNvSpPr/>
          <p:nvPr/>
        </p:nvSpPr>
        <p:spPr>
          <a:xfrm>
            <a:off x="896112" y="5102352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6A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could reveal data it shouldn't</a:t>
            </a:r>
            <a:endParaRPr lang="en-US" sz="1350" dirty="0"/>
          </a:p>
        </p:txBody>
      </p:sp>
      <p:sp>
        <p:nvSpPr>
          <p:cNvPr id="25" name="Shape 19"/>
          <p:cNvSpPr/>
          <p:nvPr/>
        </p:nvSpPr>
        <p:spPr>
          <a:xfrm>
            <a:off x="4297680" y="4142232"/>
            <a:ext cx="3566160" cy="1737360"/>
          </a:xfrm>
          <a:prstGeom prst="roundRect">
            <a:avLst>
              <a:gd name="adj" fmla="val 5789"/>
            </a:avLst>
          </a:prstGeom>
          <a:solidFill>
            <a:srgbClr val="EAEBF5"/>
          </a:solidFill>
          <a:ln/>
          <a:effectLst>
            <a:outerShdw blurRad="114300" dist="38100" dir="5400000" algn="bl" rotWithShape="0">
              <a:srgbClr val="AEC4DD">
                <a:alpha val="5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6" name="Shape 20"/>
          <p:cNvSpPr/>
          <p:nvPr/>
        </p:nvSpPr>
        <p:spPr>
          <a:xfrm>
            <a:off x="4553712" y="4416552"/>
            <a:ext cx="585216" cy="585216"/>
          </a:xfrm>
          <a:prstGeom prst="ellipse">
            <a:avLst/>
          </a:prstGeom>
          <a:solidFill>
            <a:srgbClr val="1E2270"/>
          </a:solidFill>
          <a:ln/>
          <a:effectLst>
            <a:outerShdw blurRad="114300" dist="38100" dir="5400000" algn="bl" rotWithShape="0">
              <a:srgbClr val="AEC4DD">
                <a:alpha val="50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35642" y="4498482"/>
            <a:ext cx="421356" cy="421356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5285232" y="4416552"/>
            <a:ext cx="239572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809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Bias or unsafe content</a:t>
            </a:r>
            <a:endParaRPr lang="en-US" sz="1550" dirty="0"/>
          </a:p>
        </p:txBody>
      </p:sp>
      <p:sp>
        <p:nvSpPr>
          <p:cNvPr id="29" name="Text 22"/>
          <p:cNvSpPr/>
          <p:nvPr/>
        </p:nvSpPr>
        <p:spPr>
          <a:xfrm>
            <a:off x="4553712" y="5102352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6A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Replies can be unfair or inappropriate</a:t>
            </a:r>
            <a:endParaRPr lang="en-US" sz="1350" dirty="0"/>
          </a:p>
        </p:txBody>
      </p:sp>
      <p:sp>
        <p:nvSpPr>
          <p:cNvPr id="30" name="Shape 23"/>
          <p:cNvSpPr/>
          <p:nvPr/>
        </p:nvSpPr>
        <p:spPr>
          <a:xfrm>
            <a:off x="7955280" y="4142232"/>
            <a:ext cx="3566160" cy="1737360"/>
          </a:xfrm>
          <a:prstGeom prst="roundRect">
            <a:avLst>
              <a:gd name="adj" fmla="val 5789"/>
            </a:avLst>
          </a:prstGeom>
          <a:solidFill>
            <a:srgbClr val="FCEAE2"/>
          </a:solidFill>
          <a:ln/>
          <a:effectLst>
            <a:outerShdw blurRad="114300" dist="38100" dir="5400000" algn="bl" rotWithShape="0">
              <a:srgbClr val="AEC4DD">
                <a:alpha val="5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1" name="Shape 24"/>
          <p:cNvSpPr/>
          <p:nvPr/>
        </p:nvSpPr>
        <p:spPr>
          <a:xfrm>
            <a:off x="8211312" y="4416552"/>
            <a:ext cx="585216" cy="585216"/>
          </a:xfrm>
          <a:prstGeom prst="ellipse">
            <a:avLst/>
          </a:prstGeom>
          <a:solidFill>
            <a:srgbClr val="ED3705"/>
          </a:solidFill>
          <a:ln/>
          <a:effectLst>
            <a:outerShdw blurRad="114300" dist="38100" dir="5400000" algn="bl" rotWithShape="0">
              <a:srgbClr val="AEC4DD">
                <a:alpha val="50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93242" y="4498482"/>
            <a:ext cx="421356" cy="421356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8942832" y="4416552"/>
            <a:ext cx="239572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809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Slow or costly</a:t>
            </a:r>
            <a:endParaRPr lang="en-US" sz="1550" dirty="0"/>
          </a:p>
        </p:txBody>
      </p:sp>
      <p:sp>
        <p:nvSpPr>
          <p:cNvPr id="34" name="Text 26"/>
          <p:cNvSpPr/>
          <p:nvPr/>
        </p:nvSpPr>
        <p:spPr>
          <a:xfrm>
            <a:off x="8211312" y="5102352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6A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answers can be slow and expensive</a:t>
            </a:r>
            <a:endParaRPr lang="en-US" sz="1350" dirty="0"/>
          </a:p>
        </p:txBody>
      </p:sp>
      <p:sp>
        <p:nvSpPr>
          <p:cNvPr id="35" name="Shape 27"/>
          <p:cNvSpPr/>
          <p:nvPr/>
        </p:nvSpPr>
        <p:spPr>
          <a:xfrm>
            <a:off x="640080" y="6455664"/>
            <a:ext cx="128016" cy="128016"/>
          </a:xfrm>
          <a:prstGeom prst="ellipse">
            <a:avLst/>
          </a:prstGeom>
          <a:solidFill>
            <a:srgbClr val="1E227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6" name="Shape 28"/>
          <p:cNvSpPr/>
          <p:nvPr/>
        </p:nvSpPr>
        <p:spPr>
          <a:xfrm>
            <a:off x="768096" y="6455664"/>
            <a:ext cx="128016" cy="128016"/>
          </a:xfrm>
          <a:prstGeom prst="ellipse">
            <a:avLst/>
          </a:prstGeom>
          <a:solidFill>
            <a:srgbClr val="ED370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7" name="Text 29"/>
          <p:cNvSpPr/>
          <p:nvPr/>
        </p:nvSpPr>
        <p:spPr>
          <a:xfrm>
            <a:off x="960120" y="64008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A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Thought   ·   Gen AI Testing   ·   Week 1 · Day 1</a:t>
            </a:r>
            <a:endParaRPr lang="en-US" sz="950" dirty="0"/>
          </a:p>
        </p:txBody>
      </p:sp>
      <p:sp>
        <p:nvSpPr>
          <p:cNvPr id="38" name="Text 30"/>
          <p:cNvSpPr/>
          <p:nvPr/>
        </p:nvSpPr>
        <p:spPr>
          <a:xfrm>
            <a:off x="11338560" y="640080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A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50" dirty="0"/>
          </a:p>
        </p:txBody>
      </p:sp>
      <p:pic>
        <p:nvPicPr>
          <p:cNvPr id="39" name="Image 0" descr="preencoded.png">
            <a:extLst>
              <a:ext uri="{FF2B5EF4-FFF2-40B4-BE49-F238E27FC236}">
                <a16:creationId xmlns:a16="http://schemas.microsoft.com/office/drawing/2014/main" id="{8A291844-8DBF-4D10-8EF4-F0220E65B99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353550" y="0"/>
            <a:ext cx="2615565" cy="73152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645920"/>
            <a:ext cx="4572000" cy="4572000"/>
          </a:xfrm>
          <a:prstGeom prst="ellipse">
            <a:avLst/>
          </a:prstGeom>
          <a:solidFill>
            <a:srgbClr val="EAEBF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D37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OUTCOMES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1155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809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 can now do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31520" y="1965960"/>
            <a:ext cx="566928" cy="566928"/>
          </a:xfrm>
          <a:prstGeom prst="ellipse">
            <a:avLst/>
          </a:prstGeom>
          <a:solidFill>
            <a:srgbClr val="1E2270"/>
          </a:solidFill>
          <a:ln/>
          <a:effectLst>
            <a:outerShdw blurRad="114300" dist="38100" dir="5400000" algn="bl" rotWithShape="0">
              <a:srgbClr val="AEC4DD">
                <a:alpha val="50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890" y="2045330"/>
            <a:ext cx="408188" cy="40818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1920240"/>
            <a:ext cx="9601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2A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Explain, in simple words, what a Gen AI application is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731520" y="2916936"/>
            <a:ext cx="566928" cy="566928"/>
          </a:xfrm>
          <a:prstGeom prst="ellipse">
            <a:avLst/>
          </a:prstGeom>
          <a:solidFill>
            <a:srgbClr val="1E2270"/>
          </a:solidFill>
          <a:ln/>
          <a:effectLst>
            <a:outerShdw blurRad="114300" dist="38100" dir="5400000" algn="bl" rotWithShape="0">
              <a:srgbClr val="AEC4DD">
                <a:alpha val="50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890" y="2996306"/>
            <a:ext cx="408188" cy="40818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554480" y="2871216"/>
            <a:ext cx="9601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2A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how an LLM produces answers (predicting words)</a:t>
            </a:r>
            <a:endParaRPr lang="en-US" sz="2000" dirty="0"/>
          </a:p>
        </p:txBody>
      </p:sp>
      <p:sp>
        <p:nvSpPr>
          <p:cNvPr id="11" name="Shape 7"/>
          <p:cNvSpPr/>
          <p:nvPr/>
        </p:nvSpPr>
        <p:spPr>
          <a:xfrm>
            <a:off x="731520" y="3867912"/>
            <a:ext cx="566928" cy="566928"/>
          </a:xfrm>
          <a:prstGeom prst="ellipse">
            <a:avLst/>
          </a:prstGeom>
          <a:solidFill>
            <a:srgbClr val="1E2270"/>
          </a:solidFill>
          <a:ln/>
          <a:effectLst>
            <a:outerShdw blurRad="114300" dist="38100" dir="5400000" algn="bl" rotWithShape="0">
              <a:srgbClr val="AEC4DD">
                <a:alpha val="50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890" y="3947282"/>
            <a:ext cx="408188" cy="40818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554480" y="3822192"/>
            <a:ext cx="9601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2A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the parts of a Gen AI app and what each one does</a:t>
            </a:r>
            <a:endParaRPr lang="en-US" sz="2000" dirty="0"/>
          </a:p>
        </p:txBody>
      </p:sp>
      <p:sp>
        <p:nvSpPr>
          <p:cNvPr id="14" name="Shape 9"/>
          <p:cNvSpPr/>
          <p:nvPr/>
        </p:nvSpPr>
        <p:spPr>
          <a:xfrm>
            <a:off x="731520" y="4818888"/>
            <a:ext cx="566928" cy="566928"/>
          </a:xfrm>
          <a:prstGeom prst="ellipse">
            <a:avLst/>
          </a:prstGeom>
          <a:solidFill>
            <a:srgbClr val="1E2270"/>
          </a:solidFill>
          <a:ln/>
          <a:effectLst>
            <a:outerShdw blurRad="114300" dist="38100" dir="5400000" algn="bl" rotWithShape="0">
              <a:srgbClr val="AEC4DD">
                <a:alpha val="50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890" y="4898258"/>
            <a:ext cx="408188" cy="408188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554480" y="4773168"/>
            <a:ext cx="9601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2A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why testing Gen AI is different from normal software</a:t>
            </a:r>
            <a:endParaRPr lang="en-US" sz="2000" dirty="0"/>
          </a:p>
        </p:txBody>
      </p:sp>
      <p:sp>
        <p:nvSpPr>
          <p:cNvPr id="17" name="Shape 11"/>
          <p:cNvSpPr/>
          <p:nvPr/>
        </p:nvSpPr>
        <p:spPr>
          <a:xfrm>
            <a:off x="640080" y="6455664"/>
            <a:ext cx="128016" cy="128016"/>
          </a:xfrm>
          <a:prstGeom prst="ellipse">
            <a:avLst/>
          </a:prstGeom>
          <a:solidFill>
            <a:srgbClr val="1E227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Shape 12"/>
          <p:cNvSpPr/>
          <p:nvPr/>
        </p:nvSpPr>
        <p:spPr>
          <a:xfrm>
            <a:off x="768096" y="6455664"/>
            <a:ext cx="128016" cy="128016"/>
          </a:xfrm>
          <a:prstGeom prst="ellipse">
            <a:avLst/>
          </a:prstGeom>
          <a:solidFill>
            <a:srgbClr val="ED370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" name="Text 13"/>
          <p:cNvSpPr/>
          <p:nvPr/>
        </p:nvSpPr>
        <p:spPr>
          <a:xfrm>
            <a:off x="960120" y="64008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A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Thought   ·   Gen AI Testing   ·   Week 1 · Day 1</a:t>
            </a:r>
            <a:endParaRPr lang="en-US" sz="950" dirty="0"/>
          </a:p>
        </p:txBody>
      </p:sp>
      <p:sp>
        <p:nvSpPr>
          <p:cNvPr id="20" name="Text 14"/>
          <p:cNvSpPr/>
          <p:nvPr/>
        </p:nvSpPr>
        <p:spPr>
          <a:xfrm>
            <a:off x="11338560" y="640080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A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50" dirty="0"/>
          </a:p>
        </p:txBody>
      </p:sp>
      <p:sp>
        <p:nvSpPr>
          <p:cNvPr id="21" name="Shape 0">
            <a:extLst>
              <a:ext uri="{FF2B5EF4-FFF2-40B4-BE49-F238E27FC236}">
                <a16:creationId xmlns:a16="http://schemas.microsoft.com/office/drawing/2014/main" id="{09869B69-A8A7-40FD-A3FA-4CE09389E426}"/>
              </a:ext>
            </a:extLst>
          </p:cNvPr>
          <p:cNvSpPr/>
          <p:nvPr/>
        </p:nvSpPr>
        <p:spPr>
          <a:xfrm>
            <a:off x="9513570" y="-1645920"/>
            <a:ext cx="4572000" cy="4572000"/>
          </a:xfrm>
          <a:prstGeom prst="ellipse">
            <a:avLst/>
          </a:prstGeom>
          <a:solidFill>
            <a:srgbClr val="EAEBF5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2" name="Image 0" descr="preencoded.png">
            <a:extLst>
              <a:ext uri="{FF2B5EF4-FFF2-40B4-BE49-F238E27FC236}">
                <a16:creationId xmlns:a16="http://schemas.microsoft.com/office/drawing/2014/main" id="{D2A52ECF-84CD-4DE9-8EBE-B1827FDC30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53550" y="0"/>
            <a:ext cx="2615565" cy="73152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D37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CHECK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86384"/>
            <a:ext cx="11155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809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your understanding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607040" y="640080"/>
            <a:ext cx="804672" cy="804672"/>
          </a:xfrm>
          <a:prstGeom prst="ellipse">
            <a:avLst/>
          </a:prstGeom>
          <a:solidFill>
            <a:srgbClr val="ED3705"/>
          </a:solidFill>
          <a:ln/>
          <a:effectLst>
            <a:outerShdw blurRad="114300" dist="38100" dir="5400000" algn="bl" rotWithShape="0">
              <a:srgbClr val="AEC4DD">
                <a:alpha val="50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9694" y="752734"/>
            <a:ext cx="579364" cy="57936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40080" y="1874520"/>
            <a:ext cx="10881360" cy="896112"/>
          </a:xfrm>
          <a:prstGeom prst="roundRect">
            <a:avLst>
              <a:gd name="adj" fmla="val 11224"/>
            </a:avLst>
          </a:prstGeom>
          <a:solidFill>
            <a:srgbClr val="EAEBF5"/>
          </a:solidFill>
          <a:ln/>
          <a:effectLst>
            <a:outerShdw blurRad="114300" dist="38100" dir="5400000" algn="bl" rotWithShape="0">
              <a:srgbClr val="AEC4DD">
                <a:alpha val="5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7" name="Text 4"/>
          <p:cNvSpPr/>
          <p:nvPr/>
        </p:nvSpPr>
        <p:spPr>
          <a:xfrm>
            <a:off x="868680" y="1874520"/>
            <a:ext cx="82296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ED37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Q1.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1645920" y="1874520"/>
            <a:ext cx="969264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2A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your own words, what does a Gen AI application do that normal software doesn't?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640080" y="2898648"/>
            <a:ext cx="10881360" cy="896112"/>
          </a:xfrm>
          <a:prstGeom prst="roundRect">
            <a:avLst>
              <a:gd name="adj" fmla="val 11224"/>
            </a:avLst>
          </a:prstGeom>
          <a:solidFill>
            <a:srgbClr val="EAEBF5"/>
          </a:solidFill>
          <a:ln/>
          <a:effectLst>
            <a:outerShdw blurRad="114300" dist="38100" dir="5400000" algn="bl" rotWithShape="0">
              <a:srgbClr val="AEC4DD">
                <a:alpha val="5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0" name="Text 7"/>
          <p:cNvSpPr/>
          <p:nvPr/>
        </p:nvSpPr>
        <p:spPr>
          <a:xfrm>
            <a:off x="868680" y="2898648"/>
            <a:ext cx="82296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ED37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Q2.</a:t>
            </a:r>
            <a:endParaRPr lang="en-US" sz="1900" dirty="0"/>
          </a:p>
        </p:txBody>
      </p:sp>
      <p:sp>
        <p:nvSpPr>
          <p:cNvPr id="11" name="Text 8"/>
          <p:cNvSpPr/>
          <p:nvPr/>
        </p:nvSpPr>
        <p:spPr>
          <a:xfrm>
            <a:off x="1645920" y="2898648"/>
            <a:ext cx="969264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2A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LLM mostly... (a) looks answers up in a database, or (b) predicts the next word to build an answer?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640080" y="3922776"/>
            <a:ext cx="10881360" cy="896112"/>
          </a:xfrm>
          <a:prstGeom prst="roundRect">
            <a:avLst>
              <a:gd name="adj" fmla="val 11224"/>
            </a:avLst>
          </a:prstGeom>
          <a:solidFill>
            <a:srgbClr val="EAEBF5"/>
          </a:solidFill>
          <a:ln/>
          <a:effectLst>
            <a:outerShdw blurRad="114300" dist="38100" dir="5400000" algn="bl" rotWithShape="0">
              <a:srgbClr val="AEC4DD">
                <a:alpha val="5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3" name="Text 10"/>
          <p:cNvSpPr/>
          <p:nvPr/>
        </p:nvSpPr>
        <p:spPr>
          <a:xfrm>
            <a:off x="868680" y="3922776"/>
            <a:ext cx="82296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ED37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Q3.</a:t>
            </a:r>
            <a:endParaRPr lang="en-US" sz="1900" dirty="0"/>
          </a:p>
        </p:txBody>
      </p:sp>
      <p:sp>
        <p:nvSpPr>
          <p:cNvPr id="14" name="Text 11"/>
          <p:cNvSpPr/>
          <p:nvPr/>
        </p:nvSpPr>
        <p:spPr>
          <a:xfrm>
            <a:off x="1645920" y="3922776"/>
            <a:ext cx="969264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2A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any two parts of a Gen AI application.</a:t>
            </a:r>
            <a:endParaRPr lang="en-US" sz="1700" dirty="0"/>
          </a:p>
        </p:txBody>
      </p:sp>
      <p:sp>
        <p:nvSpPr>
          <p:cNvPr id="15" name="Shape 12"/>
          <p:cNvSpPr/>
          <p:nvPr/>
        </p:nvSpPr>
        <p:spPr>
          <a:xfrm>
            <a:off x="640080" y="4946904"/>
            <a:ext cx="10881360" cy="896112"/>
          </a:xfrm>
          <a:prstGeom prst="roundRect">
            <a:avLst>
              <a:gd name="adj" fmla="val 11224"/>
            </a:avLst>
          </a:prstGeom>
          <a:solidFill>
            <a:srgbClr val="EAEBF5"/>
          </a:solidFill>
          <a:ln/>
          <a:effectLst>
            <a:outerShdw blurRad="114300" dist="38100" dir="5400000" algn="bl" rotWithShape="0">
              <a:srgbClr val="AEC4DD">
                <a:alpha val="5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6" name="Text 13"/>
          <p:cNvSpPr/>
          <p:nvPr/>
        </p:nvSpPr>
        <p:spPr>
          <a:xfrm>
            <a:off x="868680" y="4946904"/>
            <a:ext cx="82296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ED37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Q4.</a:t>
            </a:r>
            <a:endParaRPr lang="en-US" sz="1900" dirty="0"/>
          </a:p>
        </p:txBody>
      </p:sp>
      <p:sp>
        <p:nvSpPr>
          <p:cNvPr id="17" name="Text 14"/>
          <p:cNvSpPr/>
          <p:nvPr/>
        </p:nvSpPr>
        <p:spPr>
          <a:xfrm>
            <a:off x="1645920" y="4946904"/>
            <a:ext cx="969264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2A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can't we test a Gen AI answer with an exact-match check?</a:t>
            </a:r>
            <a:endParaRPr lang="en-US" sz="1700" dirty="0"/>
          </a:p>
        </p:txBody>
      </p:sp>
      <p:sp>
        <p:nvSpPr>
          <p:cNvPr id="18" name="Shape 15"/>
          <p:cNvSpPr/>
          <p:nvPr/>
        </p:nvSpPr>
        <p:spPr>
          <a:xfrm>
            <a:off x="640080" y="6455664"/>
            <a:ext cx="128016" cy="128016"/>
          </a:xfrm>
          <a:prstGeom prst="ellipse">
            <a:avLst/>
          </a:prstGeom>
          <a:solidFill>
            <a:srgbClr val="1E227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" name="Shape 16"/>
          <p:cNvSpPr/>
          <p:nvPr/>
        </p:nvSpPr>
        <p:spPr>
          <a:xfrm>
            <a:off x="768096" y="6455664"/>
            <a:ext cx="128016" cy="128016"/>
          </a:xfrm>
          <a:prstGeom prst="ellipse">
            <a:avLst/>
          </a:prstGeom>
          <a:solidFill>
            <a:srgbClr val="ED370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0" name="Text 17"/>
          <p:cNvSpPr/>
          <p:nvPr/>
        </p:nvSpPr>
        <p:spPr>
          <a:xfrm>
            <a:off x="960120" y="64008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A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Thought   ·   Gen AI Testing   ·   Week 1 · Day 1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11338560" y="640080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A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50" dirty="0"/>
          </a:p>
        </p:txBody>
      </p:sp>
      <p:pic>
        <p:nvPicPr>
          <p:cNvPr id="22" name="Image 0" descr="preencoded.png">
            <a:extLst>
              <a:ext uri="{FF2B5EF4-FFF2-40B4-BE49-F238E27FC236}">
                <a16:creationId xmlns:a16="http://schemas.microsoft.com/office/drawing/2014/main" id="{57DAE9EB-E6F3-4A14-ABC1-5AB03FBF9B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53550" y="0"/>
            <a:ext cx="2615565" cy="73152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D37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CHECK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86384"/>
            <a:ext cx="11155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809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10881360" cy="914400"/>
          </a:xfrm>
          <a:prstGeom prst="roundRect">
            <a:avLst>
              <a:gd name="adj" fmla="val 11000"/>
            </a:avLst>
          </a:prstGeom>
          <a:solidFill>
            <a:srgbClr val="FCEAE2"/>
          </a:solidFill>
          <a:ln/>
          <a:effectLst>
            <a:outerShdw blurRad="114300" dist="38100" dir="5400000" algn="bl" rotWithShape="0">
              <a:srgbClr val="AEC4DD">
                <a:alpha val="5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868680" y="2057400"/>
            <a:ext cx="548640" cy="548640"/>
          </a:xfrm>
          <a:prstGeom prst="ellipse">
            <a:avLst/>
          </a:prstGeom>
          <a:solidFill>
            <a:srgbClr val="1E2270"/>
          </a:solidFill>
          <a:ln/>
          <a:effectLst>
            <a:outerShdw blurRad="114300" dist="38100" dir="5400000" algn="bl" rotWithShape="0">
              <a:srgbClr val="AEC4DD">
                <a:alpha val="50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5490" y="2134210"/>
            <a:ext cx="395021" cy="39502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17904" y="1874520"/>
            <a:ext cx="731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A1.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2212848" y="187452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A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creates new content (answers, text, summaries) instead of only storing and fetching fixed data.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640080" y="2916936"/>
            <a:ext cx="10881360" cy="914400"/>
          </a:xfrm>
          <a:prstGeom prst="roundRect">
            <a:avLst>
              <a:gd name="adj" fmla="val 11000"/>
            </a:avLst>
          </a:prstGeom>
          <a:solidFill>
            <a:srgbClr val="FCEAE2"/>
          </a:solidFill>
          <a:ln/>
          <a:effectLst>
            <a:outerShdw blurRad="114300" dist="38100" dir="5400000" algn="bl" rotWithShape="0">
              <a:srgbClr val="AEC4DD">
                <a:alpha val="5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0" name="Shape 7"/>
          <p:cNvSpPr/>
          <p:nvPr/>
        </p:nvSpPr>
        <p:spPr>
          <a:xfrm>
            <a:off x="868680" y="3099816"/>
            <a:ext cx="548640" cy="548640"/>
          </a:xfrm>
          <a:prstGeom prst="ellipse">
            <a:avLst/>
          </a:prstGeom>
          <a:solidFill>
            <a:srgbClr val="1E2270"/>
          </a:solidFill>
          <a:ln/>
          <a:effectLst>
            <a:outerShdw blurRad="114300" dist="38100" dir="5400000" algn="bl" rotWithShape="0">
              <a:srgbClr val="AEC4DD">
                <a:alpha val="50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5490" y="3176626"/>
            <a:ext cx="395021" cy="39502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517904" y="2916936"/>
            <a:ext cx="731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A2.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2212848" y="2916936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A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(b) It predicts the next word, one at a time, to build the answer.</a:t>
            </a:r>
            <a:endParaRPr lang="en-US" sz="1600" dirty="0"/>
          </a:p>
        </p:txBody>
      </p:sp>
      <p:sp>
        <p:nvSpPr>
          <p:cNvPr id="14" name="Shape 10"/>
          <p:cNvSpPr/>
          <p:nvPr/>
        </p:nvSpPr>
        <p:spPr>
          <a:xfrm>
            <a:off x="640080" y="3959352"/>
            <a:ext cx="10881360" cy="914400"/>
          </a:xfrm>
          <a:prstGeom prst="roundRect">
            <a:avLst>
              <a:gd name="adj" fmla="val 11000"/>
            </a:avLst>
          </a:prstGeom>
          <a:solidFill>
            <a:srgbClr val="FCEAE2"/>
          </a:solidFill>
          <a:ln/>
          <a:effectLst>
            <a:outerShdw blurRad="114300" dist="38100" dir="5400000" algn="bl" rotWithShape="0">
              <a:srgbClr val="AEC4DD">
                <a:alpha val="5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5" name="Shape 11"/>
          <p:cNvSpPr/>
          <p:nvPr/>
        </p:nvSpPr>
        <p:spPr>
          <a:xfrm>
            <a:off x="868680" y="4142232"/>
            <a:ext cx="548640" cy="548640"/>
          </a:xfrm>
          <a:prstGeom prst="ellipse">
            <a:avLst/>
          </a:prstGeom>
          <a:solidFill>
            <a:srgbClr val="1E2270"/>
          </a:solidFill>
          <a:ln/>
          <a:effectLst>
            <a:outerShdw blurRad="114300" dist="38100" dir="5400000" algn="bl" rotWithShape="0">
              <a:srgbClr val="AEC4DD">
                <a:alpha val="50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5490" y="4219042"/>
            <a:ext cx="395021" cy="395021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17904" y="3959352"/>
            <a:ext cx="731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A3.</a:t>
            </a:r>
            <a:endParaRPr lang="en-US" sz="1800" dirty="0"/>
          </a:p>
        </p:txBody>
      </p:sp>
      <p:sp>
        <p:nvSpPr>
          <p:cNvPr id="18" name="Text 13"/>
          <p:cNvSpPr/>
          <p:nvPr/>
        </p:nvSpPr>
        <p:spPr>
          <a:xfrm>
            <a:off x="2212848" y="3959352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A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two of: User, App/UI, Prompt, LLM, Guardrails, Response.</a:t>
            </a:r>
            <a:endParaRPr lang="en-US" sz="1600" dirty="0"/>
          </a:p>
        </p:txBody>
      </p:sp>
      <p:sp>
        <p:nvSpPr>
          <p:cNvPr id="19" name="Shape 14"/>
          <p:cNvSpPr/>
          <p:nvPr/>
        </p:nvSpPr>
        <p:spPr>
          <a:xfrm>
            <a:off x="640080" y="5001768"/>
            <a:ext cx="10881360" cy="914400"/>
          </a:xfrm>
          <a:prstGeom prst="roundRect">
            <a:avLst>
              <a:gd name="adj" fmla="val 11000"/>
            </a:avLst>
          </a:prstGeom>
          <a:solidFill>
            <a:srgbClr val="FCEAE2"/>
          </a:solidFill>
          <a:ln/>
          <a:effectLst>
            <a:outerShdw blurRad="114300" dist="38100" dir="5400000" algn="bl" rotWithShape="0">
              <a:srgbClr val="AEC4DD">
                <a:alpha val="5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0" name="Shape 15"/>
          <p:cNvSpPr/>
          <p:nvPr/>
        </p:nvSpPr>
        <p:spPr>
          <a:xfrm>
            <a:off x="868680" y="5184648"/>
            <a:ext cx="548640" cy="548640"/>
          </a:xfrm>
          <a:prstGeom prst="ellipse">
            <a:avLst/>
          </a:prstGeom>
          <a:solidFill>
            <a:srgbClr val="1E2270"/>
          </a:solidFill>
          <a:ln/>
          <a:effectLst>
            <a:outerShdw blurRad="114300" dist="38100" dir="5400000" algn="bl" rotWithShape="0">
              <a:srgbClr val="AEC4DD">
                <a:alpha val="50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5490" y="5261458"/>
            <a:ext cx="395021" cy="395021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517904" y="5001768"/>
            <a:ext cx="731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2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A4.</a:t>
            </a:r>
            <a:endParaRPr lang="en-US" sz="1800" dirty="0"/>
          </a:p>
        </p:txBody>
      </p:sp>
      <p:sp>
        <p:nvSpPr>
          <p:cNvPr id="23" name="Text 17"/>
          <p:cNvSpPr/>
          <p:nvPr/>
        </p:nvSpPr>
        <p:spPr>
          <a:xfrm>
            <a:off x="2212848" y="5001768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A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the same question can give different wording each time — so we check meaning, facts and safety, not an exact string.</a:t>
            </a:r>
            <a:endParaRPr lang="en-US" sz="1600" dirty="0"/>
          </a:p>
        </p:txBody>
      </p:sp>
      <p:sp>
        <p:nvSpPr>
          <p:cNvPr id="24" name="Shape 18"/>
          <p:cNvSpPr/>
          <p:nvPr/>
        </p:nvSpPr>
        <p:spPr>
          <a:xfrm>
            <a:off x="640080" y="6455664"/>
            <a:ext cx="128016" cy="128016"/>
          </a:xfrm>
          <a:prstGeom prst="ellipse">
            <a:avLst/>
          </a:prstGeom>
          <a:solidFill>
            <a:srgbClr val="1E227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5" name="Shape 19"/>
          <p:cNvSpPr/>
          <p:nvPr/>
        </p:nvSpPr>
        <p:spPr>
          <a:xfrm>
            <a:off x="768096" y="6455664"/>
            <a:ext cx="128016" cy="128016"/>
          </a:xfrm>
          <a:prstGeom prst="ellipse">
            <a:avLst/>
          </a:prstGeom>
          <a:solidFill>
            <a:srgbClr val="ED370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6" name="Text 20"/>
          <p:cNvSpPr/>
          <p:nvPr/>
        </p:nvSpPr>
        <p:spPr>
          <a:xfrm>
            <a:off x="960120" y="64008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A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Thought   ·   Gen AI Testing   ·   Week 1 · Day 1</a:t>
            </a:r>
            <a:endParaRPr lang="en-US" sz="950" dirty="0"/>
          </a:p>
        </p:txBody>
      </p:sp>
      <p:sp>
        <p:nvSpPr>
          <p:cNvPr id="27" name="Text 21"/>
          <p:cNvSpPr/>
          <p:nvPr/>
        </p:nvSpPr>
        <p:spPr>
          <a:xfrm>
            <a:off x="11338560" y="640080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A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50" dirty="0"/>
          </a:p>
        </p:txBody>
      </p:sp>
      <p:pic>
        <p:nvPicPr>
          <p:cNvPr id="28" name="Image 0" descr="preencoded.png">
            <a:extLst>
              <a:ext uri="{FF2B5EF4-FFF2-40B4-BE49-F238E27FC236}">
                <a16:creationId xmlns:a16="http://schemas.microsoft.com/office/drawing/2014/main" id="{ED79C5AC-EE3A-4A81-85EC-F12CABC922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53550" y="0"/>
            <a:ext cx="2615565" cy="73152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D37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NEXT SESSION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86384"/>
            <a:ext cx="11155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809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30-minute lab + what's next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6766560" cy="4023360"/>
          </a:xfrm>
          <a:prstGeom prst="roundRect">
            <a:avLst>
              <a:gd name="adj" fmla="val 2500"/>
            </a:avLst>
          </a:prstGeom>
          <a:solidFill>
            <a:srgbClr val="EAEBF5"/>
          </a:solidFill>
          <a:ln/>
          <a:effectLst>
            <a:outerShdw blurRad="114300" dist="38100" dir="5400000" algn="bl" rotWithShape="0">
              <a:srgbClr val="AEC4DD">
                <a:alpha val="5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914400" y="2103120"/>
            <a:ext cx="658368" cy="658368"/>
          </a:xfrm>
          <a:prstGeom prst="ellipse">
            <a:avLst/>
          </a:prstGeom>
          <a:solidFill>
            <a:srgbClr val="1E2270"/>
          </a:solidFill>
          <a:ln/>
          <a:effectLst>
            <a:outerShdw blurRad="114300" dist="38100" dir="5400000" algn="bl" rotWithShape="0">
              <a:srgbClr val="AEC4DD">
                <a:alpha val="50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6572" y="2195292"/>
            <a:ext cx="474025" cy="47402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55648" y="2121408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809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Today's mini-lab (30 min)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960120" y="3017520"/>
            <a:ext cx="626364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buSzPct val="100000"/>
              <a:buFont typeface="+mj-lt"/>
              <a:buAutoNum type="arabicPeriod"/>
            </a:pPr>
            <a:r>
              <a:rPr lang="en-US" sz="1600" dirty="0">
                <a:solidFill>
                  <a:srgbClr val="2A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any AI chatbot (ChatGPT, Claude, or local Ollama).</a:t>
            </a:r>
            <a:endParaRPr lang="en-US" sz="1600" dirty="0"/>
          </a:p>
          <a:p>
            <a:pPr marL="342900" indent="-342900">
              <a:lnSpc>
                <a:spcPct val="130000"/>
              </a:lnSpc>
              <a:buSzPct val="100000"/>
              <a:buFont typeface="+mj-lt"/>
              <a:buAutoNum type="arabicPeriod"/>
            </a:pPr>
            <a:r>
              <a:rPr lang="en-US" sz="1600" dirty="0">
                <a:solidFill>
                  <a:srgbClr val="2A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it 10 different questions and save each reply.</a:t>
            </a:r>
            <a:endParaRPr lang="en-US" sz="1600" dirty="0"/>
          </a:p>
          <a:p>
            <a:pPr marL="342900" indent="-342900">
              <a:lnSpc>
                <a:spcPct val="130000"/>
              </a:lnSpc>
              <a:buSzPct val="100000"/>
              <a:buFont typeface="+mj-lt"/>
              <a:buAutoNum type="arabicPeriod"/>
            </a:pPr>
            <a:r>
              <a:rPr lang="en-US" sz="1600" dirty="0">
                <a:solidFill>
                  <a:srgbClr val="2A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one answer that surprised you — good or bad.</a:t>
            </a:r>
            <a:endParaRPr lang="en-US" sz="1600" dirty="0"/>
          </a:p>
          <a:p>
            <a:pPr marL="342900" indent="-342900">
              <a:lnSpc>
                <a:spcPct val="130000"/>
              </a:lnSpc>
              <a:buSzPct val="100000"/>
              <a:buFont typeface="+mj-lt"/>
              <a:buAutoNum type="arabicPeriod"/>
            </a:pPr>
            <a:r>
              <a:rPr lang="en-US" sz="1600" dirty="0">
                <a:solidFill>
                  <a:srgbClr val="2A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2 lines: what did you notice about how it answers?</a:t>
            </a:r>
            <a:endParaRPr lang="en-US" sz="1600" dirty="0"/>
          </a:p>
          <a:p>
            <a:pPr marL="342900" indent="-342900">
              <a:lnSpc>
                <a:spcPct val="130000"/>
              </a:lnSpc>
              <a:buSzPct val="100000"/>
              <a:buFont typeface="+mj-lt"/>
              <a:buAutoNum type="arabicPeriod"/>
            </a:pPr>
            <a:r>
              <a:rPr lang="en-US" sz="1600" dirty="0">
                <a:solidFill>
                  <a:srgbClr val="2A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notes in your GitHub: week1/day1-notes.md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7635240" y="1828800"/>
            <a:ext cx="3886200" cy="4023360"/>
          </a:xfrm>
          <a:prstGeom prst="roundRect">
            <a:avLst>
              <a:gd name="adj" fmla="val 2588"/>
            </a:avLst>
          </a:prstGeom>
          <a:solidFill>
            <a:srgbClr val="FCEAE2"/>
          </a:solidFill>
          <a:ln/>
          <a:effectLst>
            <a:outerShdw blurRad="114300" dist="38100" dir="5400000" algn="bl" rotWithShape="0">
              <a:srgbClr val="AEC4DD">
                <a:alpha val="5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0" name="Shape 7"/>
          <p:cNvSpPr/>
          <p:nvPr/>
        </p:nvSpPr>
        <p:spPr>
          <a:xfrm>
            <a:off x="7955280" y="2103120"/>
            <a:ext cx="658368" cy="658368"/>
          </a:xfrm>
          <a:prstGeom prst="ellipse">
            <a:avLst/>
          </a:prstGeom>
          <a:solidFill>
            <a:srgbClr val="ED3705"/>
          </a:solidFill>
          <a:ln/>
          <a:effectLst>
            <a:outerShdw blurRad="114300" dist="38100" dir="5400000" algn="bl" rotWithShape="0">
              <a:srgbClr val="AEC4DD">
                <a:alpha val="50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7452" y="2195292"/>
            <a:ext cx="474025" cy="47402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8796528" y="2121408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809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Coming up next</a:t>
            </a:r>
            <a:endParaRPr lang="en-US" sz="1900" dirty="0"/>
          </a:p>
        </p:txBody>
      </p:sp>
      <p:sp>
        <p:nvSpPr>
          <p:cNvPr id="13" name="Text 9"/>
          <p:cNvSpPr/>
          <p:nvPr/>
        </p:nvSpPr>
        <p:spPr>
          <a:xfrm>
            <a:off x="7955280" y="3017520"/>
            <a:ext cx="324612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800" b="1" dirty="0">
                <a:solidFill>
                  <a:srgbClr val="1E2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Key Terminology
</a:t>
            </a:r>
            <a:endParaRPr lang="en-US" sz="18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2A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words you'll use all course: tokens, context window, temperature, embeddings, hallucination — each with a simple analogy.</a:t>
            </a:r>
            <a:endParaRPr lang="en-US" sz="1800" dirty="0"/>
          </a:p>
        </p:txBody>
      </p:sp>
      <p:sp>
        <p:nvSpPr>
          <p:cNvPr id="14" name="Shape 10"/>
          <p:cNvSpPr/>
          <p:nvPr/>
        </p:nvSpPr>
        <p:spPr>
          <a:xfrm>
            <a:off x="640080" y="6455664"/>
            <a:ext cx="128016" cy="128016"/>
          </a:xfrm>
          <a:prstGeom prst="ellipse">
            <a:avLst/>
          </a:prstGeom>
          <a:solidFill>
            <a:srgbClr val="1E227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Shape 11"/>
          <p:cNvSpPr/>
          <p:nvPr/>
        </p:nvSpPr>
        <p:spPr>
          <a:xfrm>
            <a:off x="768096" y="6455664"/>
            <a:ext cx="128016" cy="128016"/>
          </a:xfrm>
          <a:prstGeom prst="ellipse">
            <a:avLst/>
          </a:prstGeom>
          <a:solidFill>
            <a:srgbClr val="ED370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" name="Text 12"/>
          <p:cNvSpPr/>
          <p:nvPr/>
        </p:nvSpPr>
        <p:spPr>
          <a:xfrm>
            <a:off x="960120" y="64008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A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Thought   ·   Gen AI Testing   ·   Week 1 · Day 1</a:t>
            </a:r>
            <a:endParaRPr lang="en-US" sz="950" dirty="0"/>
          </a:p>
        </p:txBody>
      </p:sp>
      <p:sp>
        <p:nvSpPr>
          <p:cNvPr id="17" name="Text 13"/>
          <p:cNvSpPr/>
          <p:nvPr/>
        </p:nvSpPr>
        <p:spPr>
          <a:xfrm>
            <a:off x="11338560" y="640080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A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50" dirty="0"/>
          </a:p>
        </p:txBody>
      </p:sp>
      <p:pic>
        <p:nvPicPr>
          <p:cNvPr id="18" name="Image 0" descr="preencoded.png">
            <a:extLst>
              <a:ext uri="{FF2B5EF4-FFF2-40B4-BE49-F238E27FC236}">
                <a16:creationId xmlns:a16="http://schemas.microsoft.com/office/drawing/2014/main" id="{B742DC23-F0F6-4130-9810-6E5C88082C3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53550" y="0"/>
            <a:ext cx="2615565" cy="73152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75</TotalTime>
  <Words>1038</Words>
  <Application>Microsoft Office PowerPoint</Application>
  <PresentationFormat>Widescreen</PresentationFormat>
  <Paragraphs>141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Gen AI Testing — Week 1 Day 1</dc:title>
  <dc:subject>PptxGenJS Presentation</dc:subject>
  <dc:creator>Quality Thought</dc:creator>
  <cp:lastModifiedBy>Ramprasad Vallabhadas</cp:lastModifiedBy>
  <cp:revision>2</cp:revision>
  <dcterms:created xsi:type="dcterms:W3CDTF">2026-06-15T09:15:47Z</dcterms:created>
  <dcterms:modified xsi:type="dcterms:W3CDTF">2026-10-26T15:59:27Z</dcterms:modified>
</cp:coreProperties>
</file>